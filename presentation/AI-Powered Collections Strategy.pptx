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D818FA-BC06-47F7-B1AE-D32CB2FE12E5}">
  <a:tblStyle styleId="{C3D818FA-BC06-47F7-B1AE-D32CB2FE12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9779e9687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9779e9687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9779e9687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9779e9687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9779e9687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9779e9687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779e9687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9779e9687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9779e9687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9779e9687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779e9687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9779e9687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9779e9687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9779e9687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-GB" sz="3000">
                <a:latin typeface="Roboto Slab"/>
                <a:ea typeface="Roboto Slab"/>
                <a:cs typeface="Roboto Slab"/>
                <a:sym typeface="Roboto Slab"/>
              </a:rPr>
              <a:t>AI-Powered Collections Strategy</a:t>
            </a: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362725" y="3494975"/>
            <a:ext cx="4191900" cy="9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647"/>
              <a:buFont typeface="Arial"/>
              <a:buNone/>
            </a:pPr>
            <a:r>
              <a:rPr lang="en-GB" sz="2400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Leveraging Agentic AI for Scalable, Fair, and Effective Debt Management at Geldium</a:t>
            </a:r>
            <a:endParaRPr sz="2400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303800" y="598575"/>
            <a:ext cx="7030500" cy="7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0" lang="en-GB" sz="3000">
                <a:latin typeface="Roboto Slab"/>
                <a:ea typeface="Roboto Slab"/>
                <a:cs typeface="Roboto Slab"/>
                <a:sym typeface="Roboto Slab"/>
              </a:rPr>
              <a:t>How the System Works</a:t>
            </a:r>
            <a:endParaRPr b="0" sz="30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230525" y="1418000"/>
            <a:ext cx="8851500" cy="37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Inputs: </a:t>
            </a: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Customer demographics, Payment history, Credit score, Credit utilization, Income &amp; loan balance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Decision Logic: </a:t>
            </a: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AI analyzes customer data to predict delinquency risk and classifies customers as Low, Medium, or High Risk.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Action Triggers: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Low Risk:</a:t>
            </a: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 Automated payment reminders.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Medium Risk:</a:t>
            </a: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 Personalized SMS/email reminders with self-service payment options.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914400" rtl="0" algn="just">
              <a:spcBef>
                <a:spcPts val="0"/>
              </a:spcBef>
              <a:spcAft>
                <a:spcPts val="0"/>
              </a:spcAft>
              <a:buSzPts val="1600"/>
              <a:buFont typeface="Roboto"/>
              <a:buAutoNum type="arabicPeriod"/>
            </a:pP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High Risk:</a:t>
            </a: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 Referred to Collections specialists with AI-generated risk insights.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Learning Loop:</a:t>
            </a: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 The system monitors repayment outcomes and continuously updates predictions to improve future decisions.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 rotWithShape="1">
          <a:blip r:embed="rId3">
            <a:alphaModFix/>
          </a:blip>
          <a:srcRect b="3299" l="3892" r="0" t="8966"/>
          <a:stretch/>
        </p:blipFill>
        <p:spPr>
          <a:xfrm>
            <a:off x="2992575" y="504550"/>
            <a:ext cx="3292249" cy="4512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197925" y="1385375"/>
            <a:ext cx="6263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System Workflow</a:t>
            </a:r>
            <a:endParaRPr sz="21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-GB" sz="3000">
                <a:latin typeface="Roboto Slab"/>
                <a:ea typeface="Roboto Slab"/>
                <a:cs typeface="Roboto Slab"/>
                <a:sym typeface="Roboto Slab"/>
              </a:rPr>
              <a:t>Role of Agentic AI</a:t>
            </a:r>
            <a:endParaRPr sz="30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60"/>
          </a:p>
        </p:txBody>
      </p:sp>
      <p:graphicFrame>
        <p:nvGraphicFramePr>
          <p:cNvPr id="153" name="Google Shape;153;p16"/>
          <p:cNvGraphicFramePr/>
          <p:nvPr/>
        </p:nvGraphicFramePr>
        <p:xfrm>
          <a:off x="1159388" y="155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{C3D818FA-BC06-47F7-B1AE-D32CB2FE12E5}</a:tableStyleId>
              </a:tblPr>
              <a:tblGrid>
                <a:gridCol w="3695625"/>
                <a:gridCol w="3619500"/>
              </a:tblGrid>
              <a:tr h="37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Autonomous (AI)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Human-in-the-Loop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6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Predict customer delinquency risk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Review high-risk cases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6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Classify customers into risk levels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Approve hardship plans or payment restructuring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6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Send automated payment reminders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Make final decisions on complex collection cases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6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Monitor repayment behavior and update risk scores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Monitor AI performance and address customer appeals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Roboto"/>
                <a:ea typeface="Roboto"/>
                <a:cs typeface="Roboto"/>
                <a:sym typeface="Roboto"/>
              </a:rPr>
              <a:t>Responsible AI Guardrails 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9" name="Google Shape;159;p17"/>
          <p:cNvGraphicFramePr/>
          <p:nvPr/>
        </p:nvGraphicFramePr>
        <p:xfrm>
          <a:off x="648275" y="11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{C3D818FA-BC06-47F7-B1AE-D32CB2FE12E5}</a:tableStyleId>
              </a:tblPr>
              <a:tblGrid>
                <a:gridCol w="2126975"/>
                <a:gridCol w="6210350"/>
              </a:tblGrid>
              <a:tr h="55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Guardrail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330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Fairness Checks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Regularly test the model to ensure predictions are unbiased across different customer groups.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330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Explainability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Provide clear reasons for each risk prediction using feature importance or model explanations.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330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Regulatory Compliance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Ensure customer data and AI decisions comply with applicable financial and privacy regulations (e.g., ECOA, GDPR, or local laws).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330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Human Oversight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Human reviewers make final decisions for high-risk cases and hardship requests instead of relying solely on AI.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330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Continuous Monitoring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Monitor model performance and retrain the model periodically to maintain accuracy and fairness. </a:t>
                      </a:r>
                      <a:endParaRPr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Roboto"/>
                <a:ea typeface="Roboto"/>
                <a:cs typeface="Roboto"/>
                <a:sym typeface="Roboto"/>
              </a:rPr>
              <a:t>Expected Business Impact </a:t>
            </a:r>
            <a:endParaRPr sz="2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Business KPIs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Reduced delinquency rates through early intervention.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Improved repayment and recovery rates.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More efficient allocation of collection resources.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Reduced manual workload and operational costs.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Faster, data-driven decision-making.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Roboto"/>
                <a:ea typeface="Roboto"/>
                <a:cs typeface="Roboto"/>
                <a:sym typeface="Roboto"/>
              </a:rPr>
              <a:t>Expected Business Impact </a:t>
            </a:r>
            <a:endParaRPr sz="2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latin typeface="Roboto"/>
                <a:ea typeface="Roboto"/>
                <a:cs typeface="Roboto"/>
                <a:sym typeface="Roboto"/>
              </a:rPr>
              <a:t>Customer Outcomes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Personalized and timely payment support.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Fair and transparent AI-assisted decisions.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Improved customer experience and trust.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Early assistance before financial problems worsen.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Scalable and consistent collection process.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idx="1" type="body"/>
          </p:nvPr>
        </p:nvSpPr>
        <p:spPr>
          <a:xfrm>
            <a:off x="982150" y="13500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GB" sz="4400"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 b="1" sz="44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